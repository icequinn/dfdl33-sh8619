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3"/>
    <p:sldId id="263" r:id="rId4"/>
    <p:sldId id="264" r:id="rId5"/>
    <p:sldId id="265" r:id="rId6"/>
    <p:sldId id="266" r:id="rId7"/>
    <p:sldId id="268" r:id="rId8"/>
    <p:sldId id="270" r:id="rId9"/>
    <p:sldId id="304" r:id="rId10"/>
    <p:sldId id="305" r:id="rId11"/>
    <p:sldId id="308" r:id="rId12"/>
    <p:sldId id="306" r:id="rId13"/>
    <p:sldId id="309" r:id="rId14"/>
    <p:sldId id="310" r:id="rId15"/>
    <p:sldId id="311" r:id="rId16"/>
    <p:sldId id="312" r:id="rId17"/>
    <p:sldId id="313" r:id="rId18"/>
    <p:sldId id="287" r:id="rId19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3841" y="1525651"/>
            <a:ext cx="5943600" cy="208597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5400" b="1">
                <a:solidFill>
                  <a:srgbClr val="208BD9">
                    <a:alpha val="10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低压光伏断路器安装和建档</a:t>
            </a:r>
            <a:r>
              <a:rPr lang="zh-CN" altLang="en-US" sz="5400" b="1">
                <a:solidFill>
                  <a:srgbClr val="208BD9">
                    <a:alpha val="10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经验</a:t>
            </a:r>
            <a:r>
              <a:rPr lang="zh-CN" altLang="en-US" sz="5400" b="1">
                <a:solidFill>
                  <a:srgbClr val="208BD9">
                    <a:alpha val="10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分享</a:t>
            </a:r>
            <a:endParaRPr lang="zh-CN" altLang="en-US" sz="5400" b="1">
              <a:solidFill>
                <a:srgbClr val="208BD9">
                  <a:alpha val="10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光伏微型断路器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689735" y="1764665"/>
            <a:ext cx="3309620" cy="4371340"/>
          </a:xfrm>
          <a:prstGeom prst="roundRect">
            <a:avLst>
              <a:gd name="adj" fmla="val 0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1883517" y="2035795"/>
            <a:ext cx="2644651" cy="649939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光伏微型断路器</a:t>
            </a:r>
            <a:endParaRPr lang="en-US" sz="2400" b="1">
              <a:solidFill>
                <a:schemeClr val="dk1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883410" y="2752725"/>
            <a:ext cx="2838450" cy="292481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</a:rPr>
              <a:t>是指控制信号采用AC220V电平信号控制的，具备过载、短路保护和过压、欠压保护功能，安装在发电表后，与电能表配合使用，可通过电能表控制实现分、合闸的断路器。</a:t>
            </a:r>
            <a:endParaRPr lang="en-US" sz="1600">
              <a:solidFill>
                <a:schemeClr val="dk1">
                  <a:alpha val="100000"/>
                </a:schemeClr>
              </a:solidFill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 descr="3b780a933eefcfb48ed6fe927dfdc7e3_compr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335" y="1586865"/>
            <a:ext cx="4090670" cy="4090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f4e2d5675fd791ab8baccac0d263fa08_compr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260475"/>
            <a:ext cx="3754120" cy="500507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232275" y="2230120"/>
            <a:ext cx="7211060" cy="2578100"/>
          </a:xfrm>
          <a:prstGeom prst="roundRect">
            <a:avLst>
              <a:gd name="adj" fmla="val 4504"/>
            </a:avLst>
          </a:prstGeom>
          <a:solidFill>
            <a:schemeClr val="lt2">
              <a:alpha val="100000"/>
            </a:schemeClr>
          </a:solidFill>
          <a:effectLst>
            <a:outerShdw blurRad="381000">
              <a:srgbClr val="000000">
                <a:alpha val="7000"/>
              </a:srgbClr>
            </a:outerShdw>
          </a:effectLst>
        </p:spPr>
      </p:sp>
      <p:sp>
        <p:nvSpPr>
          <p:cNvPr id="4" name="TextBox 4"/>
          <p:cNvSpPr txBox="1"/>
          <p:nvPr/>
        </p:nvSpPr>
        <p:spPr>
          <a:xfrm>
            <a:off x="4498249" y="2875555"/>
            <a:ext cx="6477000" cy="125774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指控制信号采用AC220V电平信号控制或采用无源无极性信号控制的，具备过载、短路短延时、短路瞬时保护和过压、欠压保护功能，安装在发电表后，与电能表配合使用，可通过电能表控制实现分、合闸的断路器。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498249" y="2335345"/>
            <a:ext cx="6477000" cy="645267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光伏塑壳断路器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光伏塑壳断路器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27" y="161823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indent="304800" algn="just" defTabSz="266700">
              <a:lnSpc>
                <a:spcPct val="150000"/>
              </a:lnSpc>
              <a:spcAft>
                <a:spcPct val="0"/>
              </a:spcAft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+mn-ea"/>
              </a:rPr>
              <a:t>总体安装要求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1003935" y="1611630"/>
            <a:ext cx="9660890" cy="31896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55600" algn="just" defTabSz="266700">
              <a:lnSpc>
                <a:spcPct val="20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（一）光伏断路器主电路接线为上进下出，电源端（上端）应接市电，负载端（下端）接负载（逆变器侧）。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just" defTabSz="266700">
              <a:lnSpc>
                <a:spcPct val="20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全额上网和余额上网的发电量计量方向不一样，需确保光伏断路器始终安装在光伏发电表和逆变器之间。对全额上网（反向计量），安装在发电表出线侧；对余额上网（正向计量），光伏断路器安装在电表进线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just" defTabSz="266700">
              <a:lnSpc>
                <a:spcPct val="20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（三）单相电能表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(60A)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不具备控制外置断路器的能力，需更换。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4800" algn="just" defTabSz="266700">
              <a:lnSpc>
                <a:spcPct val="200000"/>
              </a:lnSpc>
              <a:spcAft>
                <a:spcPct val="0"/>
              </a:spcAf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控制线接线说明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0"/>
          <p:cNvSpPr txBox="1"/>
          <p:nvPr/>
        </p:nvSpPr>
        <p:spPr>
          <a:xfrm>
            <a:off x="8549753" y="2151701"/>
            <a:ext cx="616662" cy="55721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02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1760" y="1568450"/>
            <a:ext cx="998283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55600" algn="just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（一）光伏断路器的控制信号：微断采用有源控制信号，塑壳具备有源信号和无源无极性信号（出场默认其中一种，</a:t>
            </a:r>
            <a:r>
              <a:rPr lang="zh-CN" alt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通过液晶面板设置，二选一使用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just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（二）智能电能表的控制信号：通过电表上的端子（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）定义区分电表控制信号是有源信号还是无源无极性信号，见下表。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2450465" y="3137535"/>
          <a:ext cx="7640955" cy="3680460"/>
        </p:xfrm>
        <a:graphic>
          <a:graphicData uri="http://schemas.openxmlformats.org/drawingml/2006/table">
            <a:tbl>
              <a:tblPr/>
              <a:tblGrid>
                <a:gridCol w="2546985"/>
                <a:gridCol w="2546985"/>
                <a:gridCol w="2546985"/>
              </a:tblGrid>
              <a:tr h="389255"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仿宋" panose="02010609060101010101" charset="-122"/>
                          <a:ea typeface="仿宋" panose="02010609060101010101" charset="-122"/>
                        </a:rPr>
                        <a:t>费控方式</a:t>
                      </a:r>
                      <a:endParaRPr lang="zh-CN" sz="1200" b="1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仿宋" panose="02010609060101010101" charset="-122"/>
                          <a:ea typeface="仿宋" panose="02010609060101010101" charset="-122"/>
                        </a:rPr>
                        <a:t>示意图</a:t>
                      </a:r>
                      <a:endParaRPr lang="zh-CN" sz="1200" b="1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仿宋" panose="02010609060101010101" charset="-122"/>
                          <a:ea typeface="仿宋" panose="02010609060101010101" charset="-122"/>
                        </a:rPr>
                        <a:t>实物图（参考）</a:t>
                      </a:r>
                      <a:endParaRPr lang="zh-CN" sz="1200" b="1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27835"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 panose="02010609060101010101" charset="-122"/>
                          <a:ea typeface="仿宋" panose="02010609060101010101" charset="-122"/>
                        </a:rPr>
                        <a:t>有源控制信号</a:t>
                      </a:r>
                      <a:endParaRPr lang="zh-CN" sz="1200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仿宋" panose="02010609060101010101" charset="-122"/>
                          <a:ea typeface="仿宋" panose="02010609060101010101" charset="-122"/>
                        </a:rPr>
                        <a:t> </a:t>
                      </a:r>
                      <a:endParaRPr lang="en-US" altLang="zh-CN" sz="1100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仿宋" panose="02010609060101010101" charset="-122"/>
                          <a:ea typeface="仿宋" panose="02010609060101010101" charset="-122"/>
                        </a:rPr>
                        <a:t> </a:t>
                      </a:r>
                      <a:endParaRPr lang="en-US" altLang="zh-CN" sz="1100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3370"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仿宋" panose="02010609060101010101" charset="-122"/>
                          <a:ea typeface="仿宋" panose="02010609060101010101" charset="-122"/>
                        </a:rPr>
                        <a:t>无源无极性控制信号</a:t>
                      </a:r>
                      <a:endParaRPr lang="zh-CN" sz="1200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304800" algn="ctr">
                        <a:lnSpc>
                          <a:spcPts val="2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仿宋" panose="02010609060101010101" charset="-122"/>
                          <a:ea typeface="仿宋" panose="02010609060101010101" charset="-122"/>
                        </a:rPr>
                        <a:t> </a:t>
                      </a:r>
                      <a:endParaRPr lang="en-US" altLang="zh-CN" sz="1100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5266055" y="3655695"/>
            <a:ext cx="1933575" cy="15240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7853045" y="3769360"/>
            <a:ext cx="1914525" cy="128968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6"/>
          <a:stretch>
            <a:fillRect/>
          </a:stretch>
        </p:blipFill>
        <p:spPr>
          <a:xfrm>
            <a:off x="5266055" y="5296535"/>
            <a:ext cx="1933892" cy="1476692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7"/>
          <a:stretch>
            <a:fillRect/>
          </a:stretch>
        </p:blipFill>
        <p:spPr>
          <a:xfrm>
            <a:off x="7853045" y="5396230"/>
            <a:ext cx="1933575" cy="1277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开关选型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8175" y="1518285"/>
            <a:ext cx="3496310" cy="2059940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5301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839326" y="1723147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光伏开关选型原则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9326" y="2347530"/>
            <a:ext cx="3143676" cy="134217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375"/>
              </a:spcBef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charset="-122"/>
              </a:rPr>
              <a:t>根据光伏并网电压、表计类型、报装容量等信息选择不同额定电流的开关类型</a:t>
            </a:r>
            <a:r>
              <a:rPr lang="zh-CN" altLang="en-US" sz="16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charset="-122"/>
              </a:rPr>
              <a:t>。</a:t>
            </a:r>
            <a:endParaRPr lang="zh-CN" altLang="en-US" sz="16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49481" y="1689543"/>
            <a:ext cx="1619808" cy="493623"/>
          </a:xfrm>
          <a:prstGeom prst="rect">
            <a:avLst/>
          </a:prstGeom>
          <a:grpFill/>
        </p:spPr>
      </p:sp>
      <p:sp>
        <p:nvSpPr>
          <p:cNvPr id="18" name="TextBox 18"/>
          <p:cNvSpPr txBox="1"/>
          <p:nvPr/>
        </p:nvSpPr>
        <p:spPr>
          <a:xfrm>
            <a:off x="4487691" y="1723147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光伏开关配置数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4333875" y="1260475"/>
          <a:ext cx="6884670" cy="5377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/>
                <a:gridCol w="855980"/>
                <a:gridCol w="620395"/>
                <a:gridCol w="1466215"/>
                <a:gridCol w="1036320"/>
                <a:gridCol w="1363345"/>
                <a:gridCol w="1002665"/>
              </a:tblGrid>
              <a:tr h="44577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并网电压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类型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报装容量（kW）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光伏开关选型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备注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78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额定电流In（A）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开关类型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220V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单相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P≤14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2P，微型断路器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14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其他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根据实际容量大小，选用合适的微型断路器（4P）或塑壳断路器（3P+N）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380V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三相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P≤50kW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4P，微型断路器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50kW＜P≤65kW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3P+N，塑壳断路器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65kW＜P≤130kW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3P+N，塑壳断路器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130kW＜P≤210kW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3P+N，塑壳断路器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210kW＜P≤330kW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630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3P+N，塑壳断路器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6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其他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根据实际容量大小，选用合适的塑壳断路器（3P+N）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753235" y="1921510"/>
            <a:ext cx="891413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5560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对于光伏微型断路器：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将配置的控制信号线红色引出线（控制信号线）接入智能电能表上的控制信号端（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），黑色引出线（反馈线）接入智能电能表上的反馈信号端（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）。示意图如下：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有源控制信号智能电表接线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/>
        </p:nvPicPr>
        <p:blipFill>
          <a:blip r:embed="rId3"/>
          <a:srcRect t="4915" b="2722"/>
          <a:stretch>
            <a:fillRect/>
          </a:stretch>
        </p:blipFill>
        <p:spPr>
          <a:xfrm>
            <a:off x="4449445" y="3428683"/>
            <a:ext cx="2246630" cy="302704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有源控制信号智能电表接线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0650" y="1975485"/>
            <a:ext cx="9410700" cy="29787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556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对于光伏塑壳断路器：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）山东德源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687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控制模式设置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：山东德源塑壳断路器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出厂默认为有源控制方式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，建议通过显示屏核实并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设置为有源控制方式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。（通过断路器操作面板，在实时显示状态下，按“设置”键，进入主菜单界面；按上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下键，选择“功能设置”，点击“确认”键，进入“功能设置”子菜单；按上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下键，选择“费控设置”；按“确认”键进入设置，按上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下键，将“无源”调成“有源”，按“确认”键保存，最后按“返回”键，返回实时显示状态。）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687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控制线接线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：将配备的端子（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）上的红色控制信号线接电表上的控制信号端（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）的黑色反馈信号线接电表上的反馈信号端（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）。示意图如下：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770" y="1179830"/>
            <a:ext cx="6860540" cy="46583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2072640" y="5968365"/>
            <a:ext cx="7987665" cy="8089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i="0">
                <a:latin typeface="微软雅黑" panose="020B0503020204020204" charset="-122"/>
                <a:ea typeface="微软雅黑" panose="020B0503020204020204" charset="-122"/>
              </a:rPr>
              <a:t>注意：智能电能表为有源控制信号时，不能接入光伏断路器的无源无极性控制端子上，否则会引起断路器中的线路板烧坏，而影响正常使用。</a:t>
            </a:r>
            <a:endParaRPr lang="zh-CN" altLang="en-US" sz="1200" b="1" i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有源控制信号智能电表接线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1970" y="1710690"/>
            <a:ext cx="8607425" cy="44532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55600" algn="l" defTabSz="266700">
              <a:lnSpc>
                <a:spcPct val="20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）浙江正泰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6870" algn="l" defTabSz="266700">
              <a:lnSpc>
                <a:spcPct val="200000"/>
              </a:lnSpc>
              <a:spcAft>
                <a:spcPct val="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控制模式设置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：正泰光伏塑壳断路器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出厂默认为无源控制方式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，建议通过显示屏核实并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设置为有源控制（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220V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）方式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。（点击断路器右下角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home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按钮唤醒屏幕，点击设置，进入系统设置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费控设置，点击设置按钮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次，使用上下按钮可选择费控方式为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“220V”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。类型为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220V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时为有源信号控制方式，类型为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DI_LEVEL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时为无源无极性型号控制方式。）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6870" algn="l" defTabSz="266700">
              <a:lnSpc>
                <a:spcPct val="200000"/>
              </a:lnSpc>
              <a:spcAft>
                <a:spcPct val="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控制线接线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：将配置的红色控制信号线一端接在断路器的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控制端子（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lang="zh-CN" altLang="en-US" sz="16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</a:t>
            </a:r>
            <a:r>
              <a:rPr lang="en-US" altLang="zh-CN" sz="16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，另一端接入智能电能表上的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控制信号端（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。将配置的黑色信号线一端接在断路器最左边的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反馈端子（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上，另一端接入智能电能表上的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反馈信号端（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。接线示意图如下：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有源控制信号智能电表接线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3358515" y="2004695"/>
            <a:ext cx="5339715" cy="28479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54555" y="5278755"/>
            <a:ext cx="8713470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</a:t>
            </a:r>
            <a:r>
              <a:rPr lang="en-US" altLang="zh-CN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：智能电能表为有源控制信号时，不能接入光伏断路器的无源无极性控制端子上，否则会引起端子烧坏。</a:t>
            </a:r>
            <a:endParaRPr lang="zh-CN" altLang="en-US" sz="14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04800" algn="just" defTabSz="266700"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</a:t>
            </a:r>
            <a:r>
              <a:rPr lang="en-US" altLang="zh-CN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125A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250A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两个规格及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630A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两个规格的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端子顺序略有不同，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125A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250A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两个规格的</a:t>
            </a:r>
            <a:r>
              <a:rPr lang="en-US" altLang="zh-CN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</a:t>
            </a: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控制端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为从</a:t>
            </a: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左往右数第</a:t>
            </a:r>
            <a:r>
              <a:rPr lang="en-US" altLang="zh-CN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个端子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630A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两个规格的</a:t>
            </a:r>
            <a:r>
              <a:rPr lang="en-US" altLang="zh-CN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控制端为</a:t>
            </a: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从左往右数第</a:t>
            </a:r>
            <a:r>
              <a:rPr lang="en-US" altLang="zh-CN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个端子</a:t>
            </a:r>
            <a:r>
              <a:rPr lang="zh-CN" altLang="en-US" sz="14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 b="0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无源控制信号智能电表接线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07820" y="1710690"/>
            <a:ext cx="8607425" cy="44532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55600" algn="l" defTabSz="266700">
              <a:lnSpc>
                <a:spcPct val="200000"/>
              </a:lnSpc>
              <a:spcAft>
                <a:spcPct val="0"/>
              </a:spcAft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对于光伏微型断路器：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l" defTabSz="266700">
              <a:lnSpc>
                <a:spcPct val="200000"/>
              </a:lnSpc>
              <a:spcAft>
                <a:spcPct val="0"/>
              </a:spcAft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将光伏断路器控制端子红色引出线（控制信号线）接入智能电能表上的公共跳闸端（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）。另将端子中的黑色引出线（反馈线）从断路器侧接线端子取下，将反馈线一端接断路器上端取市电侧电源，另一端接入智能电能表上的跳闸常闭端（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）。示意图如下：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38" y="3212148"/>
            <a:ext cx="3469005" cy="34563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791970" y="1710690"/>
            <a:ext cx="8607425" cy="44532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55600" algn="l" defTabSz="266700">
              <a:lnSpc>
                <a:spcPct val="200000"/>
              </a:lnSpc>
              <a:spcAft>
                <a:spcPct val="0"/>
              </a:spcAf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对于光伏塑壳断路器：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l" defTabSz="266700">
              <a:lnSpc>
                <a:spcPct val="20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）山东德源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l" defTabSz="266700">
              <a:lnSpc>
                <a:spcPct val="200000"/>
              </a:lnSpc>
              <a:spcAft>
                <a:spcPct val="0"/>
              </a:spcAft>
            </a:pP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控制模式设置：山东德源塑壳断路器出厂默认为有源控制方式，建议通过显示屏核实并设置为无源控制方式。（通过断路器操作面板，在实时显示状态下，按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键，进入主菜单界面；按上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下键，选择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功能设置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，点击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键，进入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功能设置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子菜单；按上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下键，选择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费控设置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键进入设置，按上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下键，将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键保存，最后按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键，返回实时显示状态。）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5600" algn="l" defTabSz="266700">
              <a:lnSpc>
                <a:spcPct val="200000"/>
              </a:lnSpc>
              <a:spcAft>
                <a:spcPct val="0"/>
              </a:spcAft>
            </a:pP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控制线接线：将配备的端子上（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）的红色控制信号线拆下，接到（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）控制端口，另一端接电表上的跳闸常闭端（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）的黑色反馈信号线拆下，接到（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）公共端口，另一端接电表上的跳闸公共端（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）。示意图如下：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无源控制信号智能电表接线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无源控制信号智能电表接线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120" y="1710690"/>
            <a:ext cx="6368415" cy="482028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无源控制信号智能电表接线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98650" y="1791335"/>
            <a:ext cx="825881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55600" algn="l" defTabSz="266700">
              <a:lnSpc>
                <a:spcPct val="150000"/>
              </a:lnSpc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）浙江正泰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687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控制模式设置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：正泰光伏塑壳断路器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出厂默认为无源控制方式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，建议通过显示屏核实，如不是需设置为无源控制（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DI_LEVEL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）方式。（点击断路器右下角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home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按钮唤醒屏幕，点击设置，进入系统设置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费控设置，点击设置按钮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次，使用上下按钮可选择费控方式为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“DI_LEVEL”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。类型为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220V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时为有源信号控制方式，类型为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DI_LEVEL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时为无源无极性型号控制方式。）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56870" algn="l" defTabSz="266700">
              <a:lnSpc>
                <a:spcPct val="150000"/>
              </a:lnSpc>
              <a:spcAft>
                <a:spcPct val="0"/>
              </a:spcAft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控制线接线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：将光伏塑壳断路器上的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DI_C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无源无极性控制节点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费控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端子（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GND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公共地端子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分别与智能电能表上的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跳闸常闭端（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跳闸公共端（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两两进行连接即可，可不区分正负极性。其余多余的控制线束可拆下。接线示意图如下：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光伏断路器安装要求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83515" y="1260792"/>
            <a:ext cx="5080000" cy="450215"/>
          </a:xfrm>
          <a:prstGeom prst="rect">
            <a:avLst/>
          </a:prstGeom>
        </p:spPr>
        <p:txBody>
          <a:bodyPr>
            <a:spAutoFit/>
          </a:bodyPr>
          <a:p>
            <a:pPr marL="0" indent="304800" algn="just" defTabSz="266700">
              <a:lnSpc>
                <a:spcPts val="28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无源控制信号智能电表接线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505" y="1921510"/>
            <a:ext cx="6801485" cy="42062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48000" y="2875280"/>
            <a:ext cx="60960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6600" b="1">
                <a:solidFill>
                  <a:srgbClr val="208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谢谢</a:t>
            </a:r>
            <a:r>
              <a:rPr lang="zh-CN" altLang="en-US" sz="6600" b="1">
                <a:solidFill>
                  <a:srgbClr val="208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！</a:t>
            </a:r>
            <a:endParaRPr lang="zh-CN" altLang="en-US" sz="6600" b="1">
              <a:solidFill>
                <a:srgbClr val="208BD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049690"/>
            <a:ext cx="12192000" cy="0"/>
          </a:xfrm>
          <a:prstGeom prst="line">
            <a:avLst/>
          </a:prstGeom>
          <a:ln w="28575">
            <a:solidFill>
              <a:srgbClr val="003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7" descr="C:\Users\Administrator\Desktop\B15会议文件封面-1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r="22060" b="77960"/>
          <a:stretch>
            <a:fillRect/>
          </a:stretch>
        </p:blipFill>
        <p:spPr bwMode="auto">
          <a:xfrm>
            <a:off x="8903191" y="161836"/>
            <a:ext cx="3096344" cy="67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01*320"/>
  <p:tag name="TABLE_ENDDRAG_RECT" val="192*247*601*320"/>
</p:tagLst>
</file>

<file path=ppt/tags/tag2.xml><?xml version="1.0" encoding="utf-8"?>
<p:tagLst xmlns:p="http://schemas.openxmlformats.org/presentationml/2006/main">
  <p:tag name="TABLE_ENDDRAG_ORIGIN_RECT" val="542*423"/>
  <p:tag name="TABLE_ENDDRAG_RECT" val="341*99*542*423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222222"/>
      </a:dk1>
      <a:lt1>
        <a:srgbClr val="FFFFFF"/>
      </a:lt1>
      <a:dk2>
        <a:srgbClr val="222222"/>
      </a:dk2>
      <a:lt2>
        <a:srgbClr val="E7E7E7"/>
      </a:lt2>
      <a:accent1>
        <a:srgbClr val="208BD9"/>
      </a:accent1>
      <a:accent2>
        <a:srgbClr val="208BD9"/>
      </a:accent2>
      <a:accent3>
        <a:srgbClr val="1B96DB"/>
      </a:accent3>
      <a:accent4>
        <a:srgbClr val="1B96DB"/>
      </a:accent4>
      <a:accent5>
        <a:srgbClr val="0688D0"/>
      </a:accent5>
      <a:accent6>
        <a:srgbClr val="15B9FF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2778</Words>
  <Application>WPS 演示</Application>
  <PresentationFormat>宽屏</PresentationFormat>
  <Paragraphs>261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Noto Sans SC</vt:lpstr>
      <vt:lpstr>思源黑体</vt:lpstr>
      <vt:lpstr>微软雅黑</vt:lpstr>
      <vt:lpstr>仿宋</vt:lpstr>
      <vt:lpstr>Arial Unicode MS</vt:lpstr>
      <vt:lpstr>等线 Light</vt:lpstr>
      <vt:lpstr>等线</vt:lpstr>
      <vt:lpstr>Calibri</vt:lpstr>
      <vt:lpstr>Times New Roman</vt:lpstr>
      <vt:lpstr>仿宋_GB2312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wangfan</cp:lastModifiedBy>
  <cp:revision>21</cp:revision>
  <dcterms:created xsi:type="dcterms:W3CDTF">2026-09-09T01:42:37Z</dcterms:created>
  <dcterms:modified xsi:type="dcterms:W3CDTF">2026-09-09T01:42:37Z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8df378158b599dfc247b604e219aa02d_1763031956_13139de27e841ffc07a32421b52710b2","ReservedCode1":"9b541979091d760cb6912bc72de7e09a0bd040a6c163f822971fd4217c861de7","ContentPropagator":"001191110000802100433B10001","PropagateID":"8df378158b599dfc247b604e219aa02d_1763031956_13139de27e841ffc07a32421b52710b2","ReservedCode2":"9b541979091d760cb6912bc72de7e09a0bd040a6c163f822971fd4217c861de7"}</vt:lpwstr>
  </property>
  <property fmtid="{D5CDD505-2E9C-101B-9397-08002B2CF9AE}" pid="3" name="ICV">
    <vt:lpwstr>DB36CB58C2BA739F8DB9A06AC7FA883B_43</vt:lpwstr>
  </property>
  <property fmtid="{D5CDD505-2E9C-101B-9397-08002B2CF9AE}" pid="4" name="KSOProductBuildVer">
    <vt:lpwstr>2052-12.1.2.23582</vt:lpwstr>
  </property>
</Properties>
</file>